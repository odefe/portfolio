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>
        <p:scale>
          <a:sx n="103" d="100"/>
          <a:sy n="103" d="100"/>
        </p:scale>
        <p:origin x="34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4F4A3-2580-BABA-0E74-FA9795A86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D09A2-1A3D-AC40-D296-82ACEFBF0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20ACF-6A0D-CED2-48D4-D9532B097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3CA-A3F0-4402-8F28-380BBA770E84}" type="datetimeFigureOut">
              <a:rPr lang="en-NG" smtClean="0"/>
              <a:t>28/10/2024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076AE-B1DC-064B-5BF2-DA4E93250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F6E07-2F53-3967-1C68-7B56139F4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137D-B5C5-4847-8E99-12A2F9B9D3B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2100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E8087-43D6-CC06-CEA0-43491FBE0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87F4B-14B0-A584-19C1-819838F5A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A07C0-A2C7-CCD0-2C50-451499F1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3CA-A3F0-4402-8F28-380BBA770E84}" type="datetimeFigureOut">
              <a:rPr lang="en-NG" smtClean="0"/>
              <a:t>28/10/2024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56D1F-F355-2942-1365-68E82753C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3D283-B525-EC45-39B8-C310AC043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137D-B5C5-4847-8E99-12A2F9B9D3B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92775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8C138-49F6-1B02-5483-6E274D981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74651-C849-7957-7E67-3841F79AF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56C68-65C1-57FC-7D42-C372FA76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3CA-A3F0-4402-8F28-380BBA770E84}" type="datetimeFigureOut">
              <a:rPr lang="en-NG" smtClean="0"/>
              <a:t>28/10/2024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95970-74D9-703C-5066-10903FEDB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43292-E504-C5D4-BA2C-9BB7E445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137D-B5C5-4847-8E99-12A2F9B9D3B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2409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555CA-570B-156B-9D20-39B58830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33E6D-8709-918E-FC4C-567D3F769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22FAC-95AE-48A1-C2AF-D7F440627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663B4-98EC-FFD0-F1CE-499EE09A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3CA-A3F0-4402-8F28-380BBA770E84}" type="datetimeFigureOut">
              <a:rPr lang="en-NG" smtClean="0"/>
              <a:t>28/10/2024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4FF20-874C-D314-7C68-C52B32F99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77AB6-8121-DDF1-7D9E-E6808E2C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137D-B5C5-4847-8E99-12A2F9B9D3B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72675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38511-662E-CF4D-3B76-58BBA992E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2F01E-0671-C679-DBF9-0D79FF3E5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89509-05D0-1B39-48F5-CAB21499A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792DE-7441-2997-8442-22A35497A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2FA1FF-2438-EFA3-0381-BFC32266E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94B860-7BE8-ABB1-F0FE-BF4098A7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3CA-A3F0-4402-8F28-380BBA770E84}" type="datetimeFigureOut">
              <a:rPr lang="en-NG" smtClean="0"/>
              <a:t>28/10/2024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33F239-E80D-841C-4C7C-F37B817FD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D38B4-0574-180A-0613-18C60FE2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137D-B5C5-4847-8E99-12A2F9B9D3B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085170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7B08-C166-EE08-2637-05E7B5480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4103E8-1B2C-C0F8-1217-8CBC6C31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3CA-A3F0-4402-8F28-380BBA770E84}" type="datetimeFigureOut">
              <a:rPr lang="en-NG" smtClean="0"/>
              <a:t>28/10/2024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E5119-F0ED-76C4-7F72-5F503D164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92DE8-69C7-E8FD-6585-1147CE271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137D-B5C5-4847-8E99-12A2F9B9D3B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23401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06F31A-4A44-5B78-BE53-6F9BF8F2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3CA-A3F0-4402-8F28-380BBA770E84}" type="datetimeFigureOut">
              <a:rPr lang="en-NG" smtClean="0"/>
              <a:t>28/10/2024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5805DA-9C27-55FD-5A8C-EEC8F4FF2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C9FFA-C89C-6B22-9E27-61DA96833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137D-B5C5-4847-8E99-12A2F9B9D3B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20699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98E2A-3E68-B507-C8A0-F822DAAFD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02F3E-686A-E2A5-9D7F-D7FA23F18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DB3AB-2EC2-712B-5E7A-A1A369B88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88D91-FB31-7443-D5EA-A42EDB682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3CA-A3F0-4402-8F28-380BBA770E84}" type="datetimeFigureOut">
              <a:rPr lang="en-NG" smtClean="0"/>
              <a:t>28/10/2024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EBF77-1559-9510-FCA2-C4CCF290C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D5A20-D4BD-C3FB-8B45-29C445FC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137D-B5C5-4847-8E99-12A2F9B9D3B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08769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FBE81-7E19-D090-547D-34814FBCF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ABDCA2-73CE-DCB8-2DC8-9990A840F7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56E53-3498-AED0-105D-6B98AB209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0812A-BCC5-760C-08F1-4460CB888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3CA-A3F0-4402-8F28-380BBA770E84}" type="datetimeFigureOut">
              <a:rPr lang="en-NG" smtClean="0"/>
              <a:t>28/10/2024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29202-8AF3-77F9-9E84-081A6240A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0AB63-53CA-624D-EFB8-38455F30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137D-B5C5-4847-8E99-12A2F9B9D3B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28981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21F09-1452-0606-A049-B8D3B93E5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9A61CD-F383-F746-4548-9977C1E6E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43EF9-D76F-862E-C505-2332E2AE4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3CA-A3F0-4402-8F28-380BBA770E84}" type="datetimeFigureOut">
              <a:rPr lang="en-NG" smtClean="0"/>
              <a:t>28/10/2024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578D4-8073-7BD5-DACF-887D23B35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01935-D856-11C3-5432-B0E9FDC2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137D-B5C5-4847-8E99-12A2F9B9D3B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64473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859B71-89FA-6B60-3295-01121FC901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404D2D-1A9A-58CA-9935-53D66DEF7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619B4-A1DA-EE2E-556C-868A1D367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C23CA-A3F0-4402-8F28-380BBA770E84}" type="datetimeFigureOut">
              <a:rPr lang="en-NG" smtClean="0"/>
              <a:t>28/10/2024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6F4B4-FAD0-59E9-D922-6C8F0D50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03071-81D5-9EAD-736A-209A0AB38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A137D-B5C5-4847-8E99-12A2F9B9D3B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40184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2CEB8-8AB5-CDE0-0D7B-944F5643C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DF3FC-BE15-C8E4-34E9-A80A1E8C6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A585F-14F0-0602-769E-10977602B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C23CA-A3F0-4402-8F28-380BBA770E84}" type="datetimeFigureOut">
              <a:rPr lang="en-NG" smtClean="0"/>
              <a:t>28/10/2024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27A64-3510-329E-D69F-EB05F0F95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447AD-654B-CDFD-6FAE-3A9F1B1D1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0A137D-B5C5-4847-8E99-12A2F9B9D3B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0087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6E5EA1-534F-BF39-F02E-35F736B26A3E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2C54D-2F54-1A25-B9BF-FC6905DA7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1050" y="3014588"/>
            <a:ext cx="9144000" cy="2387600"/>
          </a:xfrm>
        </p:spPr>
        <p:txBody>
          <a:bodyPr>
            <a:noAutofit/>
          </a:bodyPr>
          <a:lstStyle/>
          <a:p>
            <a:r>
              <a:rPr lang="en-US" sz="6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SOCIAL MEDIA &amp; CULTURAL IMPACT ANALYSIS FOR BADDIES FRANCHISE</a:t>
            </a:r>
            <a:endParaRPr lang="en-NG" sz="66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6" name="Picture 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5720996A-2A78-8487-5F41-7DABBF126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0"/>
            <a:ext cx="2857500" cy="1600200"/>
          </a:xfrm>
          <a:prstGeom prst="rect">
            <a:avLst/>
          </a:prstGeom>
        </p:spPr>
      </p:pic>
      <p:pic>
        <p:nvPicPr>
          <p:cNvPr id="16" name="Picture 1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EA644D68-5F6A-56BD-B5C3-3DA71A97D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7800"/>
            <a:ext cx="2857500" cy="1600200"/>
          </a:xfrm>
          <a:prstGeom prst="rect">
            <a:avLst/>
          </a:prstGeom>
        </p:spPr>
      </p:pic>
      <p:pic>
        <p:nvPicPr>
          <p:cNvPr id="18" name="Picture 17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89B9EEBB-3E49-DC28-C37E-AC0B5DB950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5257800"/>
            <a:ext cx="2857500" cy="1600200"/>
          </a:xfrm>
          <a:prstGeom prst="rect">
            <a:avLst/>
          </a:prstGeom>
        </p:spPr>
      </p:pic>
      <p:pic>
        <p:nvPicPr>
          <p:cNvPr id="20" name="Picture 19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ADC1946C-7987-7047-D557-5BE144104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08D20-C399-CBF2-1FE4-8272858E5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2BA7EE-8A3B-1F1B-D305-DF2CFBC79C3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pic>
        <p:nvPicPr>
          <p:cNvPr id="6" name="Picture 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9F235E8C-EEEE-C99A-9467-F6136A701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0"/>
            <a:ext cx="2857500" cy="1600200"/>
          </a:xfrm>
          <a:prstGeom prst="rect">
            <a:avLst/>
          </a:prstGeom>
        </p:spPr>
      </p:pic>
      <p:pic>
        <p:nvPicPr>
          <p:cNvPr id="16" name="Picture 1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72603096-6FEB-821F-E1E7-CE636CCCA1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7800"/>
            <a:ext cx="2857500" cy="1600200"/>
          </a:xfrm>
          <a:prstGeom prst="rect">
            <a:avLst/>
          </a:prstGeom>
        </p:spPr>
      </p:pic>
      <p:pic>
        <p:nvPicPr>
          <p:cNvPr id="18" name="Picture 17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6DE20302-6DDC-1A49-AA05-47C9732A58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5257800"/>
            <a:ext cx="2857500" cy="1600200"/>
          </a:xfrm>
          <a:prstGeom prst="rect">
            <a:avLst/>
          </a:prstGeom>
        </p:spPr>
      </p:pic>
      <p:pic>
        <p:nvPicPr>
          <p:cNvPr id="20" name="Picture 19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30B349BC-2D9E-BFB2-19F9-B7BB18179A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500" cy="16002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4A32FF-5B38-DDC9-7244-BD129A466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665" y="640540"/>
            <a:ext cx="5946668" cy="588793"/>
          </a:xfrm>
        </p:spPr>
        <p:txBody>
          <a:bodyPr>
            <a:noAutofit/>
          </a:bodyPr>
          <a:lstStyle/>
          <a:p>
            <a:r>
              <a:rPr lang="en-US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INTRODUCTION</a:t>
            </a:r>
            <a:endParaRPr lang="en-NG" sz="44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F7FC4-624A-069E-4822-AAAD89920F94}"/>
              </a:ext>
            </a:extLst>
          </p:cNvPr>
          <p:cNvSpPr txBox="1"/>
          <p:nvPr/>
        </p:nvSpPr>
        <p:spPr>
          <a:xfrm>
            <a:off x="1313300" y="2240740"/>
            <a:ext cx="104879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Objective: Analyze the franchise’s social media performance and cultural relevance for Zeus Networks negotiations.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Scope: Focus on Twitter, Instagram, TikTok, YouTube, Facebook, and cultural trends.</a:t>
            </a:r>
          </a:p>
          <a:p>
            <a:endParaRPr lang="en-NG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692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73C9F-0988-8DA8-1512-A0E7C6B44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9C7AD5-33E4-2131-FE62-9DFC5110458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pic>
        <p:nvPicPr>
          <p:cNvPr id="6" name="Picture 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73FF8E82-FB24-BC72-6C37-E184D48BA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0"/>
            <a:ext cx="2857500" cy="1600200"/>
          </a:xfrm>
          <a:prstGeom prst="rect">
            <a:avLst/>
          </a:prstGeom>
        </p:spPr>
      </p:pic>
      <p:pic>
        <p:nvPicPr>
          <p:cNvPr id="16" name="Picture 1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EF757DF4-7822-3651-3DCF-25BD54D0D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7800"/>
            <a:ext cx="2857500" cy="1600200"/>
          </a:xfrm>
          <a:prstGeom prst="rect">
            <a:avLst/>
          </a:prstGeom>
        </p:spPr>
      </p:pic>
      <p:pic>
        <p:nvPicPr>
          <p:cNvPr id="18" name="Picture 17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356EDDF7-B1B4-0DF6-95B1-3A736D431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5257800"/>
            <a:ext cx="2857500" cy="1600200"/>
          </a:xfrm>
          <a:prstGeom prst="rect">
            <a:avLst/>
          </a:prstGeom>
        </p:spPr>
      </p:pic>
      <p:pic>
        <p:nvPicPr>
          <p:cNvPr id="20" name="Picture 19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F8B3B059-03FB-44E1-3EE6-C39537EBB0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500" cy="16002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7C9399C-6BC7-92AA-84D4-8BC9060CA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665" y="640540"/>
            <a:ext cx="5946668" cy="588793"/>
          </a:xfrm>
        </p:spPr>
        <p:txBody>
          <a:bodyPr>
            <a:noAutofit/>
          </a:bodyPr>
          <a:lstStyle/>
          <a:p>
            <a:r>
              <a:rPr lang="en-US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METHODOLOGY</a:t>
            </a:r>
            <a:endParaRPr lang="en-NG" sz="44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A04A7-FCDE-3B95-6120-2858E2FF4D48}"/>
              </a:ext>
            </a:extLst>
          </p:cNvPr>
          <p:cNvSpPr txBox="1"/>
          <p:nvPr/>
        </p:nvSpPr>
        <p:spPr>
          <a:xfrm>
            <a:off x="1313300" y="2240740"/>
            <a:ext cx="10487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Platforms Tracked: Twitter, Instagram, Facebook, YouTube, TikTok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Data Points: Mentions, hashtags, views, likes, comments, shares, influencer impact</a:t>
            </a:r>
          </a:p>
          <a:p>
            <a:r>
              <a:rPr lang="en-US" b="1" dirty="0">
                <a:solidFill>
                  <a:schemeClr val="bg1"/>
                </a:solidFill>
              </a:rPr>
              <a:t>Sentiment Overview: Collected using posts, reels, viral clips, and fan groups</a:t>
            </a:r>
            <a:endParaRPr lang="en-NG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84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6CC8-2CDE-F070-F7E0-CB4252DF9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2CD45C-04E2-20F0-C739-8BA126397C13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pic>
        <p:nvPicPr>
          <p:cNvPr id="6" name="Picture 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A5AADE42-F84A-0CEA-6F10-BB8FDAC6B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0"/>
            <a:ext cx="2857500" cy="1600200"/>
          </a:xfrm>
          <a:prstGeom prst="rect">
            <a:avLst/>
          </a:prstGeom>
        </p:spPr>
      </p:pic>
      <p:pic>
        <p:nvPicPr>
          <p:cNvPr id="16" name="Picture 1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1601E037-2E8F-A04D-1848-E040F8F249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7800"/>
            <a:ext cx="2857500" cy="1600200"/>
          </a:xfrm>
          <a:prstGeom prst="rect">
            <a:avLst/>
          </a:prstGeom>
        </p:spPr>
      </p:pic>
      <p:pic>
        <p:nvPicPr>
          <p:cNvPr id="18" name="Picture 17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4B25C861-704F-8AC5-FD43-7529E9F9CE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5257800"/>
            <a:ext cx="2857500" cy="1600200"/>
          </a:xfrm>
          <a:prstGeom prst="rect">
            <a:avLst/>
          </a:prstGeom>
        </p:spPr>
      </p:pic>
      <p:pic>
        <p:nvPicPr>
          <p:cNvPr id="20" name="Picture 19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90429AB9-0EDD-C62A-F69A-8902F4DE35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500" cy="16002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83823BE-E337-D33D-A3ED-9092607B3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665" y="640540"/>
            <a:ext cx="5946668" cy="588793"/>
          </a:xfrm>
        </p:spPr>
        <p:txBody>
          <a:bodyPr>
            <a:noAutofit/>
          </a:bodyPr>
          <a:lstStyle/>
          <a:p>
            <a:r>
              <a:rPr lang="en-US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X (TWITTER) ANALYSIS</a:t>
            </a:r>
            <a:endParaRPr lang="en-NG" sz="44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363AF9-6DF4-1D78-D324-538FAED97D86}"/>
              </a:ext>
            </a:extLst>
          </p:cNvPr>
          <p:cNvSpPr txBox="1"/>
          <p:nvPr/>
        </p:nvSpPr>
        <p:spPr>
          <a:xfrm>
            <a:off x="2945718" y="1779687"/>
            <a:ext cx="862236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Top hashtags: #BaddiesCaribbean, #BaddiesMidwest, #ZeusNetwork.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Key Tweets:</a:t>
            </a:r>
          </a:p>
          <a:p>
            <a:r>
              <a:rPr lang="en-US" b="1" dirty="0">
                <a:solidFill>
                  <a:schemeClr val="bg1"/>
                </a:solidFill>
              </a:rPr>
              <a:t>@TheZeusReport: 1.8M views, 10K likes, 529 replies (Promo content).</a:t>
            </a:r>
          </a:p>
          <a:p>
            <a:r>
              <a:rPr lang="en-US" b="1" dirty="0">
                <a:solidFill>
                  <a:schemeClr val="bg1"/>
                </a:solidFill>
              </a:rPr>
              <a:t>Omarii’s Tweet: 1.7M views, 34K likes, 4.9K retweets.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Sentiment Analysis:</a:t>
            </a:r>
          </a:p>
          <a:p>
            <a:r>
              <a:rPr lang="en-US" b="1" dirty="0">
                <a:solidFill>
                  <a:schemeClr val="bg1"/>
                </a:solidFill>
              </a:rPr>
              <a:t>Majority focus on fights and drama.</a:t>
            </a:r>
          </a:p>
          <a:p>
            <a:r>
              <a:rPr lang="en-US" b="1" dirty="0">
                <a:solidFill>
                  <a:schemeClr val="bg1"/>
                </a:solidFill>
              </a:rPr>
              <a:t>Conversations highlight feuds between cast members.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Influential Accounts Driving Visibility:</a:t>
            </a:r>
          </a:p>
          <a:p>
            <a:r>
              <a:rPr lang="en-US" b="1" dirty="0">
                <a:solidFill>
                  <a:schemeClr val="bg1"/>
                </a:solidFill>
              </a:rPr>
              <a:t>@BaddiesOnZeus 584K Followers</a:t>
            </a:r>
          </a:p>
          <a:p>
            <a:r>
              <a:rPr lang="en-US" b="1" dirty="0">
                <a:solidFill>
                  <a:schemeClr val="bg1"/>
                </a:solidFill>
              </a:rPr>
              <a:t>@ZeusNetworkTea 79K Followers</a:t>
            </a:r>
          </a:p>
          <a:p>
            <a:r>
              <a:rPr lang="en-US" b="1" dirty="0">
                <a:solidFill>
                  <a:schemeClr val="bg1"/>
                </a:solidFill>
              </a:rPr>
              <a:t>@TheZeusReport 22K Followers</a:t>
            </a:r>
          </a:p>
          <a:p>
            <a:r>
              <a:rPr lang="en-US" b="1" dirty="0">
                <a:solidFill>
                  <a:schemeClr val="bg1"/>
                </a:solidFill>
              </a:rPr>
              <a:t>@BaddiesEastTea 14.1K Followers</a:t>
            </a:r>
          </a:p>
          <a:p>
            <a:r>
              <a:rPr lang="en-US" b="1" dirty="0">
                <a:solidFill>
                  <a:schemeClr val="bg1"/>
                </a:solidFill>
              </a:rPr>
              <a:t>@Baddies_Tea_ 10.4K Followers</a:t>
            </a:r>
          </a:p>
          <a:p>
            <a:r>
              <a:rPr lang="en-US" b="1" dirty="0">
                <a:solidFill>
                  <a:schemeClr val="bg1"/>
                </a:solidFill>
              </a:rPr>
              <a:t>@BaddiesDose 874 Followers</a:t>
            </a:r>
            <a:endParaRPr lang="en-NG" b="1" dirty="0">
              <a:solidFill>
                <a:schemeClr val="bg1"/>
              </a:solidFill>
            </a:endParaRPr>
          </a:p>
        </p:txBody>
      </p:sp>
      <p:pic>
        <p:nvPicPr>
          <p:cNvPr id="3" name="Picture 2" descr="A white x on a black background&#10;&#10;Description automatically generated">
            <a:extLst>
              <a:ext uri="{FF2B5EF4-FFF2-40B4-BE49-F238E27FC236}">
                <a16:creationId xmlns:a16="http://schemas.microsoft.com/office/drawing/2014/main" id="{A2732D64-7108-146C-28F9-BCF29F60BA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54" y="2425400"/>
            <a:ext cx="1520524" cy="152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26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CAED8-CF4C-75C8-03AA-745A64E3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5CA49C-BEFF-CD5B-3A91-D5FB23B322BE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pic>
        <p:nvPicPr>
          <p:cNvPr id="6" name="Picture 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1553E9D1-5FE4-D09A-A81C-BC5BBE3A3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0"/>
            <a:ext cx="2857500" cy="1600200"/>
          </a:xfrm>
          <a:prstGeom prst="rect">
            <a:avLst/>
          </a:prstGeom>
        </p:spPr>
      </p:pic>
      <p:pic>
        <p:nvPicPr>
          <p:cNvPr id="16" name="Picture 1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3E9462C1-A402-CBB3-BD7C-19AB94908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7800"/>
            <a:ext cx="2857500" cy="1600200"/>
          </a:xfrm>
          <a:prstGeom prst="rect">
            <a:avLst/>
          </a:prstGeom>
        </p:spPr>
      </p:pic>
      <p:pic>
        <p:nvPicPr>
          <p:cNvPr id="18" name="Picture 17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C260D4B6-E4FA-1D82-4011-77E4D29566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5257800"/>
            <a:ext cx="2857500" cy="1600200"/>
          </a:xfrm>
          <a:prstGeom prst="rect">
            <a:avLst/>
          </a:prstGeom>
        </p:spPr>
      </p:pic>
      <p:pic>
        <p:nvPicPr>
          <p:cNvPr id="20" name="Picture 19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6D69DC0C-F1E9-EE0F-216C-E200AE67E5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500" cy="16002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663A4D7-DCBF-7038-9B9B-FF8AA2582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665" y="640540"/>
            <a:ext cx="5946668" cy="588793"/>
          </a:xfrm>
        </p:spPr>
        <p:txBody>
          <a:bodyPr>
            <a:noAutofit/>
          </a:bodyPr>
          <a:lstStyle/>
          <a:p>
            <a:r>
              <a:rPr lang="en-US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INSTAGRAM ANALYSIS</a:t>
            </a:r>
            <a:endParaRPr lang="en-NG" sz="44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600A61-EE70-3674-7C30-01247F582EB2}"/>
              </a:ext>
            </a:extLst>
          </p:cNvPr>
          <p:cNvSpPr txBox="1"/>
          <p:nvPr/>
        </p:nvSpPr>
        <p:spPr>
          <a:xfrm>
            <a:off x="0" y="1670008"/>
            <a:ext cx="3855308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#Baddies Zeus: 548 Posts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Top Posts: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 err="1">
                <a:solidFill>
                  <a:schemeClr val="bg1"/>
                </a:solidFill>
              </a:rPr>
              <a:t>baddiespositivity</a:t>
            </a:r>
            <a:r>
              <a:rPr lang="en-US" sz="1000" b="1" dirty="0">
                <a:solidFill>
                  <a:schemeClr val="bg1"/>
                </a:solidFill>
              </a:rPr>
              <a:t>_ (10.7K followers)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Likes: 7359 | Comments: 161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Sentiment: Screenshot of "</a:t>
            </a:r>
            <a:r>
              <a:rPr lang="en-US" sz="1000" b="1" dirty="0" err="1">
                <a:solidFill>
                  <a:schemeClr val="bg1"/>
                </a:solidFill>
              </a:rPr>
              <a:t>pvd_biggie</a:t>
            </a:r>
            <a:r>
              <a:rPr lang="en-US" sz="1000" b="1" dirty="0">
                <a:solidFill>
                  <a:schemeClr val="bg1"/>
                </a:solidFill>
              </a:rPr>
              <a:t>" explaining an incident involving yelling about her face.</a:t>
            </a:r>
          </a:p>
          <a:p>
            <a:r>
              <a:rPr lang="en-US" sz="1000" b="1" dirty="0" err="1">
                <a:solidFill>
                  <a:schemeClr val="bg1"/>
                </a:solidFill>
              </a:rPr>
              <a:t>ahnamacdefender</a:t>
            </a:r>
            <a:r>
              <a:rPr lang="en-US" sz="1000" b="1" dirty="0">
                <a:solidFill>
                  <a:schemeClr val="bg1"/>
                </a:solidFill>
              </a:rPr>
              <a:t> (2795 followers)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Likes: 18.7K | Comments: 37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Sentiment: Edited video meme with show characters, without original audio.</a:t>
            </a:r>
          </a:p>
          <a:p>
            <a:r>
              <a:rPr lang="en-US" sz="1000" b="1" dirty="0" err="1">
                <a:solidFill>
                  <a:schemeClr val="bg1"/>
                </a:solidFill>
              </a:rPr>
              <a:t>ahnamacdefender</a:t>
            </a:r>
            <a:r>
              <a:rPr lang="en-US" sz="1000" b="1" dirty="0">
                <a:solidFill>
                  <a:schemeClr val="bg1"/>
                </a:solidFill>
              </a:rPr>
              <a:t> (2795 followers)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Likes: 31.5K | Comments: 58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Sentiment: Edited video meme featuring show characters, no original audio.</a:t>
            </a:r>
          </a:p>
          <a:p>
            <a:r>
              <a:rPr lang="en-US" sz="1000" b="1" dirty="0" err="1">
                <a:solidFill>
                  <a:schemeClr val="bg1"/>
                </a:solidFill>
              </a:rPr>
              <a:t>ahnamacdefender</a:t>
            </a:r>
            <a:r>
              <a:rPr lang="en-US" sz="1000" b="1" dirty="0">
                <a:solidFill>
                  <a:schemeClr val="bg1"/>
                </a:solidFill>
              </a:rPr>
              <a:t> (2795 followers)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Likes: 54.7K | Comments: 181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Sentiment: Edited video showing characters fighting.</a:t>
            </a:r>
            <a:endParaRPr lang="en-NG" sz="10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205C38-E9C0-C3FE-1BD9-88A74E84449F}"/>
              </a:ext>
            </a:extLst>
          </p:cNvPr>
          <p:cNvSpPr txBox="1"/>
          <p:nvPr/>
        </p:nvSpPr>
        <p:spPr>
          <a:xfrm>
            <a:off x="3855308" y="1670008"/>
            <a:ext cx="4528751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Hashtag #baddiesatl😈💕‼️: 771 Posts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Top Posts: 771zeus_hottest_tea (276K followers)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Likes: 850 | Comments: 325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Sentiment: Video of @xojazmone from #bgc calling out characters, requesting guest appearance.</a:t>
            </a:r>
          </a:p>
          <a:p>
            <a:r>
              <a:rPr lang="en-US" sz="1000" b="1" dirty="0" err="1">
                <a:solidFill>
                  <a:schemeClr val="bg1"/>
                </a:solidFill>
              </a:rPr>
              <a:t>zeus_hottest_tea</a:t>
            </a:r>
            <a:r>
              <a:rPr lang="en-US" sz="1000" b="1" dirty="0">
                <a:solidFill>
                  <a:schemeClr val="bg1"/>
                </a:solidFill>
              </a:rPr>
              <a:t> (276K followers)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Views (Reel): 6882 | Comments: 157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Sentiment: Clip of @joseline boasting about her show, disputed by @realmissnatalienunn.</a:t>
            </a:r>
          </a:p>
          <a:p>
            <a:r>
              <a:rPr lang="en-US" sz="1000" b="1" dirty="0" err="1">
                <a:solidFill>
                  <a:schemeClr val="bg1"/>
                </a:solidFill>
              </a:rPr>
              <a:t>zeus_hottest_tea</a:t>
            </a:r>
            <a:r>
              <a:rPr lang="en-US" sz="1000" b="1" dirty="0">
                <a:solidFill>
                  <a:schemeClr val="bg1"/>
                </a:solidFill>
              </a:rPr>
              <a:t> (276K followers)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Views (Reel): 10,118 | Comments: 52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Sentiment: Claim by @realmissnatalienunn denying involvement in a fight incident.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endParaRPr lang="en-US" sz="1000" b="1" dirty="0">
              <a:solidFill>
                <a:schemeClr val="bg1"/>
              </a:solidFill>
            </a:endParaRPr>
          </a:p>
          <a:p>
            <a:endParaRPr lang="en-US" sz="1000" b="1" dirty="0">
              <a:solidFill>
                <a:schemeClr val="bg1"/>
              </a:solidFill>
            </a:endParaRPr>
          </a:p>
          <a:p>
            <a:endParaRPr lang="en-US" sz="1000" b="1" dirty="0">
              <a:solidFill>
                <a:schemeClr val="bg1"/>
              </a:solidFill>
            </a:endParaRPr>
          </a:p>
          <a:p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580EA9-E097-BB80-003E-886783FA60CD}"/>
              </a:ext>
            </a:extLst>
          </p:cNvPr>
          <p:cNvSpPr txBox="1"/>
          <p:nvPr/>
        </p:nvSpPr>
        <p:spPr>
          <a:xfrm>
            <a:off x="8384059" y="1670008"/>
            <a:ext cx="3807940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Hashtag #baddiesatl: 40,532 Posts (General use, not solely related to the show)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 err="1">
                <a:solidFill>
                  <a:schemeClr val="bg1"/>
                </a:solidFill>
              </a:rPr>
              <a:t>zeus_hottest_tea</a:t>
            </a:r>
            <a:r>
              <a:rPr lang="en-US" sz="1000" b="1" dirty="0">
                <a:solidFill>
                  <a:schemeClr val="bg1"/>
                </a:solidFill>
              </a:rPr>
              <a:t> (276K followers)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Likes: 430 | Comments: 21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Sentiment: Screenshot of a tweet about an incident between @JeLaminah and Bad Dolly.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thedailybuzz.tv (7431 followers)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Likes: 239 | Comments: 68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Sentiment: Screenshot of Midwest </a:t>
            </a:r>
            <a:r>
              <a:rPr lang="en-US" sz="1000" b="1" dirty="0" err="1">
                <a:solidFill>
                  <a:schemeClr val="bg1"/>
                </a:solidFill>
              </a:rPr>
              <a:t>Ivori</a:t>
            </a:r>
            <a:r>
              <a:rPr lang="en-US" sz="1000" b="1" dirty="0">
                <a:solidFill>
                  <a:schemeClr val="bg1"/>
                </a:solidFill>
              </a:rPr>
              <a:t> mentioning being invited to get embarrassed.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thedailybuzz.tv (7431 followers)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Likes: 122 | Comments: 37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Sentiment: Screenshot of Melaine Fox explaining audience frustrations.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endParaRPr lang="en-US" sz="1000" b="1" dirty="0">
              <a:solidFill>
                <a:schemeClr val="bg1"/>
              </a:solidFill>
            </a:endParaRPr>
          </a:p>
          <a:p>
            <a:endParaRPr lang="en-US" sz="1000" b="1" dirty="0">
              <a:solidFill>
                <a:schemeClr val="bg1"/>
              </a:solidFill>
            </a:endParaRPr>
          </a:p>
          <a:p>
            <a:endParaRPr lang="en-US" sz="1000" b="1" dirty="0">
              <a:solidFill>
                <a:schemeClr val="bg1"/>
              </a:solidFill>
            </a:endParaRPr>
          </a:p>
        </p:txBody>
      </p:sp>
      <p:pic>
        <p:nvPicPr>
          <p:cNvPr id="17" name="Picture 16" descr="A logo of a camera&#10;&#10;Description automatically generated">
            <a:extLst>
              <a:ext uri="{FF2B5EF4-FFF2-40B4-BE49-F238E27FC236}">
                <a16:creationId xmlns:a16="http://schemas.microsoft.com/office/drawing/2014/main" id="{0119E242-E64B-AED0-ADCB-3D5E622CE1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454" y="5343654"/>
            <a:ext cx="1514346" cy="151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48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ED982-4B87-85B4-80DF-3129F4137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5FEFBA-86C5-2BE5-C7EA-F919515A00B0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pic>
        <p:nvPicPr>
          <p:cNvPr id="6" name="Picture 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E2D0C15E-9340-431C-2449-341C72F8F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0"/>
            <a:ext cx="2857500" cy="1600200"/>
          </a:xfrm>
          <a:prstGeom prst="rect">
            <a:avLst/>
          </a:prstGeom>
        </p:spPr>
      </p:pic>
      <p:pic>
        <p:nvPicPr>
          <p:cNvPr id="16" name="Picture 1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736227C5-ACE3-C8E0-DEE2-563EB4778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7800"/>
            <a:ext cx="2857500" cy="1600200"/>
          </a:xfrm>
          <a:prstGeom prst="rect">
            <a:avLst/>
          </a:prstGeom>
        </p:spPr>
      </p:pic>
      <p:pic>
        <p:nvPicPr>
          <p:cNvPr id="18" name="Picture 17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6F014FE0-293A-2A36-5CD2-A6816100EA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5257800"/>
            <a:ext cx="2857500" cy="1600200"/>
          </a:xfrm>
          <a:prstGeom prst="rect">
            <a:avLst/>
          </a:prstGeom>
        </p:spPr>
      </p:pic>
      <p:pic>
        <p:nvPicPr>
          <p:cNvPr id="20" name="Picture 19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3888774F-5D44-99BE-C3AC-18E34E921F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500" cy="16002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50FCD07-2005-F324-9BB1-F7871345C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665" y="640540"/>
            <a:ext cx="5946668" cy="588793"/>
          </a:xfrm>
        </p:spPr>
        <p:txBody>
          <a:bodyPr>
            <a:noAutofit/>
          </a:bodyPr>
          <a:lstStyle/>
          <a:p>
            <a:r>
              <a:rPr lang="en-US" sz="4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YOUTUBE ANALYSIS</a:t>
            </a:r>
            <a:endParaRPr lang="en-NG" sz="48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F07336-5671-8107-0A30-41784C658C79}"/>
              </a:ext>
            </a:extLst>
          </p:cNvPr>
          <p:cNvSpPr txBox="1"/>
          <p:nvPr/>
        </p:nvSpPr>
        <p:spPr>
          <a:xfrm>
            <a:off x="0" y="1632547"/>
            <a:ext cx="2857500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Channel: The Zeus Network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Subscribers: 1.12M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Top Videos: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Baddies ATL | FREE EPISODE | Reunited And It Feels So...BAD | ZEUS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Views: 8M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Comments: 12,680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Baddies ATL | Clip | Sarah vs. Seven | Zeus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Views: 2M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Comments: 2,288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Baddies South | Official Trailer | Zeus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Views: 1.5M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Comments: 2,348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Baddies East Reunion | Teaser | Zeus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Views: 838K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Comments: 1,399</a:t>
            </a:r>
          </a:p>
          <a:p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93455A-62CB-50FA-0C47-913F0B6516E5}"/>
              </a:ext>
            </a:extLst>
          </p:cNvPr>
          <p:cNvSpPr txBox="1"/>
          <p:nvPr/>
        </p:nvSpPr>
        <p:spPr>
          <a:xfrm>
            <a:off x="3122665" y="1627824"/>
            <a:ext cx="2857500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Channel: Zeus Clips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Subscribers: 4.82K</a:t>
            </a:r>
          </a:p>
          <a:p>
            <a:endParaRPr lang="en-US" sz="1100" b="1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chemeClr val="bg1"/>
                </a:solidFill>
              </a:rPr>
              <a:t>Top Videos: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Baddies West: </a:t>
            </a:r>
            <a:r>
              <a:rPr lang="en-US" sz="1100" b="1" dirty="0" err="1">
                <a:solidFill>
                  <a:schemeClr val="bg1"/>
                </a:solidFill>
              </a:rPr>
              <a:t>Stunna</a:t>
            </a:r>
            <a:r>
              <a:rPr lang="en-US" sz="1100" b="1" dirty="0">
                <a:solidFill>
                  <a:schemeClr val="bg1"/>
                </a:solidFill>
              </a:rPr>
              <a:t> Girl vs. Rollie</a:t>
            </a:r>
          </a:p>
          <a:p>
            <a:endParaRPr lang="en-US" sz="1100" b="1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chemeClr val="bg1"/>
                </a:solidFill>
              </a:rPr>
              <a:t>Views: 1.8M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Comments: 1,300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Baddies West: Natalie Nunn vs. Tommie Lee</a:t>
            </a:r>
          </a:p>
          <a:p>
            <a:endParaRPr lang="en-US" sz="1100" b="1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chemeClr val="bg1"/>
                </a:solidFill>
              </a:rPr>
              <a:t>Views: 246K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Comments: 313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Baddies West: </a:t>
            </a:r>
            <a:r>
              <a:rPr lang="en-US" sz="1100" b="1" dirty="0" err="1">
                <a:solidFill>
                  <a:schemeClr val="bg1"/>
                </a:solidFill>
              </a:rPr>
              <a:t>Stunna</a:t>
            </a:r>
            <a:r>
              <a:rPr lang="en-US" sz="1100" b="1" dirty="0">
                <a:solidFill>
                  <a:schemeClr val="bg1"/>
                </a:solidFill>
              </a:rPr>
              <a:t> vs. Biggie</a:t>
            </a:r>
          </a:p>
          <a:p>
            <a:endParaRPr lang="en-US" sz="1100" b="1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chemeClr val="bg1"/>
                </a:solidFill>
              </a:rPr>
              <a:t>Views: 175K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Comments: 296</a:t>
            </a:r>
          </a:p>
          <a:p>
            <a:endParaRPr lang="en-US" sz="1100" b="1" dirty="0">
              <a:solidFill>
                <a:schemeClr val="bg1"/>
              </a:solidFill>
            </a:endParaRPr>
          </a:p>
          <a:p>
            <a:endParaRPr lang="en-US" sz="1100" b="1" dirty="0">
              <a:solidFill>
                <a:schemeClr val="bg1"/>
              </a:solidFill>
            </a:endParaRPr>
          </a:p>
          <a:p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C8D376-6F3B-AFB3-A6BA-B74E49AFF12F}"/>
              </a:ext>
            </a:extLst>
          </p:cNvPr>
          <p:cNvSpPr txBox="1"/>
          <p:nvPr/>
        </p:nvSpPr>
        <p:spPr>
          <a:xfrm>
            <a:off x="6228582" y="1627824"/>
            <a:ext cx="2857500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Channel: C3NTRAL PRODUCTIONS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Subscribers: 80.5K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Top Videos: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Natalie vs. Scotty [Round 2] - Baddies East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Views: 1M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Comments: 686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 err="1">
                <a:solidFill>
                  <a:schemeClr val="bg1"/>
                </a:solidFill>
              </a:rPr>
              <a:t>Jela</a:t>
            </a:r>
            <a:r>
              <a:rPr lang="en-US" sz="1000" b="1" dirty="0">
                <a:solidFill>
                  <a:schemeClr val="bg1"/>
                </a:solidFill>
              </a:rPr>
              <a:t> vs. Biggie - Baddies Caribbean [Exclusive Sneak Peek]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Views: 636K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Comments: 679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Sapphire vs. Scarface - Baddies East Reunion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Views: 579K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Comments: 710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Diamond The Body vs. </a:t>
            </a:r>
            <a:r>
              <a:rPr lang="en-US" sz="1000" b="1" dirty="0" err="1">
                <a:solidFill>
                  <a:schemeClr val="bg1"/>
                </a:solidFill>
              </a:rPr>
              <a:t>TinkaBella</a:t>
            </a:r>
            <a:r>
              <a:rPr lang="en-US" sz="1000" b="1" dirty="0">
                <a:solidFill>
                  <a:schemeClr val="bg1"/>
                </a:solidFill>
              </a:rPr>
              <a:t> - Baddies Caribbean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Views: 542K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Comments: 400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61219-709F-3F72-2AA9-B4C923F2F79B}"/>
              </a:ext>
            </a:extLst>
          </p:cNvPr>
          <p:cNvSpPr txBox="1"/>
          <p:nvPr/>
        </p:nvSpPr>
        <p:spPr>
          <a:xfrm>
            <a:off x="9334499" y="1597386"/>
            <a:ext cx="2857500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Channel: </a:t>
            </a:r>
            <a:r>
              <a:rPr lang="en-US" sz="1100" b="1" dirty="0" err="1">
                <a:solidFill>
                  <a:schemeClr val="bg1"/>
                </a:solidFill>
              </a:rPr>
              <a:t>twomillstreet</a:t>
            </a:r>
            <a:endParaRPr lang="en-US" sz="1100" b="1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chemeClr val="bg1"/>
                </a:solidFill>
              </a:rPr>
              <a:t>Subscribers: 11K</a:t>
            </a:r>
          </a:p>
          <a:p>
            <a:endParaRPr lang="en-US" sz="1100" b="1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chemeClr val="bg1"/>
                </a:solidFill>
              </a:rPr>
              <a:t>Top Videos:</a:t>
            </a:r>
          </a:p>
          <a:p>
            <a:r>
              <a:rPr lang="en-US" sz="1100" b="1" dirty="0" err="1">
                <a:solidFill>
                  <a:schemeClr val="bg1"/>
                </a:solidFill>
              </a:rPr>
              <a:t>Chrisean</a:t>
            </a:r>
            <a:r>
              <a:rPr lang="en-US" sz="1100" b="1" dirty="0">
                <a:solidFill>
                  <a:schemeClr val="bg1"/>
                </a:solidFill>
              </a:rPr>
              <a:t> Rock vs. Persuasion (Full Fight) | Baddies South</a:t>
            </a:r>
          </a:p>
          <a:p>
            <a:endParaRPr lang="en-US" sz="1100" b="1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chemeClr val="bg1"/>
                </a:solidFill>
              </a:rPr>
              <a:t>Views: 2.7M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Comments: 1,022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Baddies ATL Official Trailer</a:t>
            </a:r>
          </a:p>
          <a:p>
            <a:endParaRPr lang="en-US" sz="1100" b="1" dirty="0">
              <a:solidFill>
                <a:schemeClr val="bg1"/>
              </a:solidFill>
            </a:endParaRPr>
          </a:p>
          <a:p>
            <a:r>
              <a:rPr lang="en-US" sz="1100" b="1" dirty="0">
                <a:solidFill>
                  <a:schemeClr val="bg1"/>
                </a:solidFill>
              </a:rPr>
              <a:t>Views: 125K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Comments: 451</a:t>
            </a:r>
          </a:p>
          <a:p>
            <a:endParaRPr lang="en-US" sz="1100" b="1" dirty="0">
              <a:solidFill>
                <a:schemeClr val="bg1"/>
              </a:solidFill>
            </a:endParaRPr>
          </a:p>
          <a:p>
            <a:endParaRPr lang="en-US" sz="1100" b="1" dirty="0">
              <a:solidFill>
                <a:schemeClr val="bg1"/>
              </a:solidFill>
            </a:endParaRPr>
          </a:p>
          <a:p>
            <a:endParaRPr lang="en-US" sz="1100" b="1" dirty="0">
              <a:solidFill>
                <a:schemeClr val="bg1"/>
              </a:solidFill>
            </a:endParaRPr>
          </a:p>
          <a:p>
            <a:endParaRPr lang="en-US" sz="1100" b="1" dirty="0">
              <a:solidFill>
                <a:schemeClr val="bg1"/>
              </a:solidFill>
            </a:endParaRPr>
          </a:p>
          <a:p>
            <a:endParaRPr lang="en-US" sz="1100" b="1" dirty="0">
              <a:solidFill>
                <a:schemeClr val="bg1"/>
              </a:solidFill>
            </a:endParaRPr>
          </a:p>
          <a:p>
            <a:endParaRPr lang="en-US" sz="1100" b="1" dirty="0">
              <a:solidFill>
                <a:schemeClr val="bg1"/>
              </a:solidFill>
            </a:endParaRPr>
          </a:p>
          <a:p>
            <a:endParaRPr lang="en-US" sz="1100" b="1" dirty="0">
              <a:solidFill>
                <a:schemeClr val="bg1"/>
              </a:solidFill>
            </a:endParaRPr>
          </a:p>
        </p:txBody>
      </p:sp>
      <p:pic>
        <p:nvPicPr>
          <p:cNvPr id="10" name="Picture 9" descr="A logo with a red and black logo&#10;&#10;Description automatically generated">
            <a:extLst>
              <a:ext uri="{FF2B5EF4-FFF2-40B4-BE49-F238E27FC236}">
                <a16:creationId xmlns:a16="http://schemas.microsoft.com/office/drawing/2014/main" id="{9EDBC396-1204-D715-377D-E8CD6E190E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49" y="5181749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063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AD3EA-ED65-69FD-96C7-4322C37FE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62C5E7-1206-8414-1B61-F8BE4BB60A16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pic>
        <p:nvPicPr>
          <p:cNvPr id="6" name="Picture 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6C3AAC91-B758-59CE-ED99-717F3947F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0"/>
            <a:ext cx="2857500" cy="1600200"/>
          </a:xfrm>
          <a:prstGeom prst="rect">
            <a:avLst/>
          </a:prstGeom>
        </p:spPr>
      </p:pic>
      <p:pic>
        <p:nvPicPr>
          <p:cNvPr id="16" name="Picture 1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BF24DA76-9620-06FE-10D2-AAD37BED8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7800"/>
            <a:ext cx="2857500" cy="1600200"/>
          </a:xfrm>
          <a:prstGeom prst="rect">
            <a:avLst/>
          </a:prstGeom>
        </p:spPr>
      </p:pic>
      <p:pic>
        <p:nvPicPr>
          <p:cNvPr id="18" name="Picture 17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A999E4B5-89CD-9DBF-F832-3ED11D49E5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5257800"/>
            <a:ext cx="2857500" cy="1600200"/>
          </a:xfrm>
          <a:prstGeom prst="rect">
            <a:avLst/>
          </a:prstGeom>
        </p:spPr>
      </p:pic>
      <p:pic>
        <p:nvPicPr>
          <p:cNvPr id="20" name="Picture 19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4ACDE84E-E1FA-F7D3-DD3E-6586AB0BAA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500" cy="16002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7F40FF0-EA27-A1BB-BD51-3C530B390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665" y="640540"/>
            <a:ext cx="5946668" cy="588793"/>
          </a:xfrm>
        </p:spPr>
        <p:txBody>
          <a:bodyPr>
            <a:noAutofit/>
          </a:bodyPr>
          <a:lstStyle/>
          <a:p>
            <a:r>
              <a:rPr lang="en-US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TIK TOK ANALYSIS</a:t>
            </a:r>
            <a:endParaRPr lang="en-NG" sz="44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7445C9-E56D-84B3-939A-FF98EE28E9EE}"/>
              </a:ext>
            </a:extLst>
          </p:cNvPr>
          <p:cNvSpPr txBox="1"/>
          <p:nvPr/>
        </p:nvSpPr>
        <p:spPr>
          <a:xfrm>
            <a:off x="2857500" y="1600200"/>
            <a:ext cx="10487984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bg1"/>
                </a:solidFill>
              </a:rPr>
              <a:t>Top Posts and Engagement:</a:t>
            </a:r>
          </a:p>
          <a:p>
            <a:endParaRPr lang="en-US" sz="1300" b="1" dirty="0">
              <a:solidFill>
                <a:schemeClr val="bg1"/>
              </a:solidFill>
            </a:endParaRPr>
          </a:p>
          <a:p>
            <a:r>
              <a:rPr lang="en-US" sz="1300" b="1" dirty="0" err="1">
                <a:solidFill>
                  <a:schemeClr val="bg1"/>
                </a:solidFill>
              </a:rPr>
              <a:t>wachaelr</a:t>
            </a:r>
            <a:r>
              <a:rPr lang="en-US" sz="1300" b="1" dirty="0">
                <a:solidFill>
                  <a:schemeClr val="bg1"/>
                </a:solidFill>
              </a:rPr>
              <a:t>_ (112.6K followers)</a:t>
            </a:r>
          </a:p>
          <a:p>
            <a:r>
              <a:rPr lang="en-US" sz="1300" b="1" dirty="0">
                <a:solidFill>
                  <a:schemeClr val="bg1"/>
                </a:solidFill>
              </a:rPr>
              <a:t>Likes: 205.7K | Comments: 684 | Bookmarks: 28.8K</a:t>
            </a:r>
          </a:p>
          <a:p>
            <a:r>
              <a:rPr lang="en-US" sz="1300" b="1" dirty="0">
                <a:solidFill>
                  <a:schemeClr val="bg1"/>
                </a:solidFill>
              </a:rPr>
              <a:t>Sentiment: Clip from the show featuring </a:t>
            </a:r>
            <a:r>
              <a:rPr lang="en-US" sz="1300" b="1" dirty="0" err="1">
                <a:solidFill>
                  <a:schemeClr val="bg1"/>
                </a:solidFill>
              </a:rPr>
              <a:t>Tesehki</a:t>
            </a:r>
            <a:r>
              <a:rPr lang="en-US" sz="1300" b="1" dirty="0">
                <a:solidFill>
                  <a:schemeClr val="bg1"/>
                </a:solidFill>
              </a:rPr>
              <a:t> confronting </a:t>
            </a:r>
            <a:r>
              <a:rPr lang="en-US" sz="1300" b="1" dirty="0" err="1">
                <a:solidFill>
                  <a:schemeClr val="bg1"/>
                </a:solidFill>
              </a:rPr>
              <a:t>Chrisean's</a:t>
            </a:r>
            <a:r>
              <a:rPr lang="en-US" sz="1300" b="1" dirty="0">
                <a:solidFill>
                  <a:schemeClr val="bg1"/>
                </a:solidFill>
              </a:rPr>
              <a:t> friends, Jenna and Marsh, with intent to fight.</a:t>
            </a:r>
          </a:p>
          <a:p>
            <a:endParaRPr lang="en-US" sz="1300" b="1" dirty="0">
              <a:solidFill>
                <a:schemeClr val="bg1"/>
              </a:solidFill>
            </a:endParaRPr>
          </a:p>
          <a:p>
            <a:r>
              <a:rPr lang="en-US" sz="1300" b="1" dirty="0" err="1">
                <a:solidFill>
                  <a:schemeClr val="bg1"/>
                </a:solidFill>
              </a:rPr>
              <a:t>juhsverse</a:t>
            </a:r>
            <a:r>
              <a:rPr lang="en-US" sz="1300" b="1" dirty="0">
                <a:solidFill>
                  <a:schemeClr val="bg1"/>
                </a:solidFill>
              </a:rPr>
              <a:t> (30.6K followers)</a:t>
            </a:r>
          </a:p>
          <a:p>
            <a:r>
              <a:rPr lang="en-US" sz="1300" b="1" dirty="0">
                <a:solidFill>
                  <a:schemeClr val="bg1"/>
                </a:solidFill>
              </a:rPr>
              <a:t>Likes: 145.5K | Comments: 435 | Bookmarks: 24.4K</a:t>
            </a:r>
          </a:p>
          <a:p>
            <a:r>
              <a:rPr lang="en-US" sz="1300" b="1" dirty="0">
                <a:solidFill>
                  <a:schemeClr val="bg1"/>
                </a:solidFill>
              </a:rPr>
              <a:t>Sentiment: Edited video showing characters from the show in fight stances.</a:t>
            </a:r>
          </a:p>
          <a:p>
            <a:endParaRPr lang="en-US" sz="1300" b="1" dirty="0">
              <a:solidFill>
                <a:schemeClr val="bg1"/>
              </a:solidFill>
            </a:endParaRPr>
          </a:p>
          <a:p>
            <a:r>
              <a:rPr lang="en-US" sz="1300" b="1" dirty="0">
                <a:solidFill>
                  <a:schemeClr val="bg1"/>
                </a:solidFill>
              </a:rPr>
              <a:t>losc1ty (139.4K followers)</a:t>
            </a:r>
          </a:p>
          <a:p>
            <a:r>
              <a:rPr lang="en-US" sz="1300" b="1" dirty="0">
                <a:solidFill>
                  <a:schemeClr val="bg1"/>
                </a:solidFill>
              </a:rPr>
              <a:t>Likes: 123.4K | Comments: 910 | Bookmarks: 16.9K</a:t>
            </a:r>
          </a:p>
          <a:p>
            <a:r>
              <a:rPr lang="en-US" sz="1300" b="1" dirty="0">
                <a:solidFill>
                  <a:schemeClr val="bg1"/>
                </a:solidFill>
              </a:rPr>
              <a:t>Sentiment: Edited video of characters in fight stances during the Baddies Caribbean reunion.</a:t>
            </a:r>
          </a:p>
          <a:p>
            <a:endParaRPr lang="en-US" sz="1300" b="1" dirty="0">
              <a:solidFill>
                <a:schemeClr val="bg1"/>
              </a:solidFill>
            </a:endParaRPr>
          </a:p>
          <a:p>
            <a:r>
              <a:rPr lang="en-US" sz="1300" b="1" dirty="0">
                <a:solidFill>
                  <a:schemeClr val="bg1"/>
                </a:solidFill>
              </a:rPr>
              <a:t>gossiptim3 (44.3K followers)</a:t>
            </a:r>
          </a:p>
          <a:p>
            <a:r>
              <a:rPr lang="en-US" sz="1300" b="1" dirty="0">
                <a:solidFill>
                  <a:schemeClr val="bg1"/>
                </a:solidFill>
              </a:rPr>
              <a:t>Likes: 449.4K | Comments: 888 | Bookmarks: 32.8K</a:t>
            </a:r>
          </a:p>
          <a:p>
            <a:r>
              <a:rPr lang="en-US" sz="1300" b="1" dirty="0">
                <a:solidFill>
                  <a:schemeClr val="bg1"/>
                </a:solidFill>
              </a:rPr>
              <a:t>Sentiment: Clip of "</a:t>
            </a:r>
            <a:r>
              <a:rPr lang="en-US" sz="1300" b="1" dirty="0" err="1">
                <a:solidFill>
                  <a:schemeClr val="bg1"/>
                </a:solidFill>
              </a:rPr>
              <a:t>pvd</a:t>
            </a:r>
            <a:r>
              <a:rPr lang="en-US" sz="1300" b="1" dirty="0">
                <a:solidFill>
                  <a:schemeClr val="bg1"/>
                </a:solidFill>
              </a:rPr>
              <a:t> biggie" walking and speaking in Spanish.</a:t>
            </a:r>
          </a:p>
          <a:p>
            <a:endParaRPr lang="en-US" sz="1300" b="1" dirty="0">
              <a:solidFill>
                <a:schemeClr val="bg1"/>
              </a:solidFill>
            </a:endParaRPr>
          </a:p>
          <a:p>
            <a:r>
              <a:rPr lang="en-US" sz="1300" b="1" dirty="0" err="1">
                <a:solidFill>
                  <a:schemeClr val="bg1"/>
                </a:solidFill>
              </a:rPr>
              <a:t>stnnaagrl</a:t>
            </a:r>
            <a:r>
              <a:rPr lang="en-US" sz="1300" b="1" dirty="0">
                <a:solidFill>
                  <a:schemeClr val="bg1"/>
                </a:solidFill>
              </a:rPr>
              <a:t> (177K followers)</a:t>
            </a:r>
          </a:p>
          <a:p>
            <a:r>
              <a:rPr lang="en-US" sz="1300" b="1" dirty="0">
                <a:solidFill>
                  <a:schemeClr val="bg1"/>
                </a:solidFill>
              </a:rPr>
              <a:t>Likes: 144.7K | Comments: 478</a:t>
            </a:r>
          </a:p>
          <a:p>
            <a:r>
              <a:rPr lang="en-US" sz="1300" b="1" dirty="0">
                <a:solidFill>
                  <a:schemeClr val="bg1"/>
                </a:solidFill>
              </a:rPr>
              <a:t>Sentiment: Edited video meme referencing a fight on the show.</a:t>
            </a:r>
          </a:p>
          <a:p>
            <a:endParaRPr lang="en-US" sz="1300" b="1" dirty="0">
              <a:solidFill>
                <a:schemeClr val="bg1"/>
              </a:solidFill>
            </a:endParaRPr>
          </a:p>
          <a:p>
            <a:r>
              <a:rPr lang="en-US" sz="1300" b="1" dirty="0" err="1">
                <a:solidFill>
                  <a:schemeClr val="bg1"/>
                </a:solidFill>
              </a:rPr>
              <a:t>badbihnewss</a:t>
            </a:r>
            <a:r>
              <a:rPr lang="en-US" sz="1300" b="1" dirty="0">
                <a:solidFill>
                  <a:schemeClr val="bg1"/>
                </a:solidFill>
              </a:rPr>
              <a:t> (7238 followers)</a:t>
            </a:r>
          </a:p>
          <a:p>
            <a:r>
              <a:rPr lang="en-US" sz="1300" b="1" dirty="0">
                <a:solidFill>
                  <a:schemeClr val="bg1"/>
                </a:solidFill>
              </a:rPr>
              <a:t>Likes: 396 | Comments: 2</a:t>
            </a:r>
          </a:p>
          <a:p>
            <a:r>
              <a:rPr lang="en-US" sz="1300" b="1" dirty="0">
                <a:solidFill>
                  <a:schemeClr val="bg1"/>
                </a:solidFill>
              </a:rPr>
              <a:t>Sentiment: Teaser for Baddies Midwest.</a:t>
            </a:r>
            <a:endParaRPr lang="en-NG" sz="1300" b="1" dirty="0">
              <a:solidFill>
                <a:schemeClr val="bg1"/>
              </a:solidFill>
            </a:endParaRPr>
          </a:p>
        </p:txBody>
      </p:sp>
      <p:pic>
        <p:nvPicPr>
          <p:cNvPr id="3" name="Picture 2" descr="A black background with white text and a logo&#10;&#10;Description automatically generated">
            <a:extLst>
              <a:ext uri="{FF2B5EF4-FFF2-40B4-BE49-F238E27FC236}">
                <a16:creationId xmlns:a16="http://schemas.microsoft.com/office/drawing/2014/main" id="{8F992620-416B-48D2-3E21-5361C4EDF7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8" y="2686915"/>
            <a:ext cx="2650304" cy="148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844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9CF41-4507-0DEE-862C-C9638981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344709-E6B4-46EC-EEB9-5997B13B624B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pic>
        <p:nvPicPr>
          <p:cNvPr id="6" name="Picture 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03C18E07-FDD8-B041-8AED-19FD959EB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0"/>
            <a:ext cx="2857500" cy="1600200"/>
          </a:xfrm>
          <a:prstGeom prst="rect">
            <a:avLst/>
          </a:prstGeom>
        </p:spPr>
      </p:pic>
      <p:pic>
        <p:nvPicPr>
          <p:cNvPr id="16" name="Picture 1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C62C8716-E576-87ED-23DE-1AB228476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7800"/>
            <a:ext cx="2857500" cy="1600200"/>
          </a:xfrm>
          <a:prstGeom prst="rect">
            <a:avLst/>
          </a:prstGeom>
        </p:spPr>
      </p:pic>
      <p:pic>
        <p:nvPicPr>
          <p:cNvPr id="18" name="Picture 17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CB684189-8737-2A8F-75C9-D9F799D38C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5257800"/>
            <a:ext cx="2857500" cy="1600200"/>
          </a:xfrm>
          <a:prstGeom prst="rect">
            <a:avLst/>
          </a:prstGeom>
        </p:spPr>
      </p:pic>
      <p:pic>
        <p:nvPicPr>
          <p:cNvPr id="20" name="Picture 19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2AC5F366-D122-9CBD-5887-3F260D8CF8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500" cy="16002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623EDF7-F610-827D-C119-E7F883529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665" y="640540"/>
            <a:ext cx="5946668" cy="588793"/>
          </a:xfrm>
        </p:spPr>
        <p:txBody>
          <a:bodyPr>
            <a:noAutofit/>
          </a:bodyPr>
          <a:lstStyle/>
          <a:p>
            <a:r>
              <a:rPr lang="en-US" sz="4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FACEBOOK ANALYSIS</a:t>
            </a:r>
            <a:endParaRPr lang="en-NG" sz="48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FF0E5B-75B0-F68F-F2C6-F8871BC27474}"/>
              </a:ext>
            </a:extLst>
          </p:cNvPr>
          <p:cNvSpPr txBox="1"/>
          <p:nvPr/>
        </p:nvSpPr>
        <p:spPr>
          <a:xfrm>
            <a:off x="3122665" y="1627824"/>
            <a:ext cx="2857500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Key Hub: "Baddies on Zeus" Facebook Group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Likes: 388K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Followers: 544K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Most Popular Reels: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Rollie and others laughing at a woman singing a Beyoncé song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Views: 714K | Likes: 19.7K | Comments: 429 | Shares: 1.2K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Video screenshot of a contestant walking with confessional in the background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Views: 340K | Likes: 4.3K | Comments: 582 | Shares: 510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Twitter clip featuring Biggie talking about someone's mother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Views: 220K | Likes: 6.8K | Comments: 225 | Shares: 600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Insta live clip of Scarface revealing that Rollie told her </a:t>
            </a:r>
            <a:r>
              <a:rPr lang="en-US" sz="1000" b="1" dirty="0" err="1">
                <a:solidFill>
                  <a:schemeClr val="bg1"/>
                </a:solidFill>
              </a:rPr>
              <a:t>Tesehki's</a:t>
            </a:r>
            <a:r>
              <a:rPr lang="en-US" sz="1000" b="1" dirty="0">
                <a:solidFill>
                  <a:schemeClr val="bg1"/>
                </a:solidFill>
              </a:rPr>
              <a:t> hotel room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Views: 534K | Likes: 6.6K | Comments: 883 | Shares: 1.1K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Screenshot video of Instagram live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Views: 653K | Likes: 5.1K | Comments: 270 | Shares: 1.4K</a:t>
            </a:r>
          </a:p>
          <a:p>
            <a:r>
              <a:rPr lang="en-US" sz="1000" b="1" dirty="0" err="1">
                <a:solidFill>
                  <a:schemeClr val="bg1"/>
                </a:solidFill>
              </a:rPr>
              <a:t>Ahna</a:t>
            </a:r>
            <a:r>
              <a:rPr lang="en-US" sz="1000" b="1" dirty="0">
                <a:solidFill>
                  <a:schemeClr val="bg1"/>
                </a:solidFill>
              </a:rPr>
              <a:t> teasing another person while a bodyguard intervenes to prevent a fight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Views: 1.2M | Likes: 14.1K | Comments: 901 | Shares: 3.4K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BC720C-3BCC-13ED-23A8-123CBE35BB94}"/>
              </a:ext>
            </a:extLst>
          </p:cNvPr>
          <p:cNvSpPr txBox="1"/>
          <p:nvPr/>
        </p:nvSpPr>
        <p:spPr>
          <a:xfrm>
            <a:off x="6245330" y="1600200"/>
            <a:ext cx="2857500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Associated Group: "Baddie </a:t>
            </a:r>
            <a:r>
              <a:rPr lang="en-US" sz="1000" b="1" dirty="0" err="1">
                <a:solidFill>
                  <a:schemeClr val="bg1"/>
                </a:solidFill>
              </a:rPr>
              <a:t>O'Clock</a:t>
            </a:r>
            <a:r>
              <a:rPr lang="en-US" sz="1000" b="1" dirty="0">
                <a:solidFill>
                  <a:schemeClr val="bg1"/>
                </a:solidFill>
              </a:rPr>
              <a:t> Group Chat"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Members: 10K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Content: Focused on drama and fights related to the show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Other Prominent Baddies Facebook Pages: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Baddies Fans: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Likes: 21K | Followers: 112K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Baddies Caribbean Fans: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Likes: 3.5K | Followers: 61K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Baddies South Fans: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Likes: 18K | Followers: 242K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Baddies on Zeus Family: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Likes: 6.7K | Followers: 44K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Baddies ALT - Baddies South Fans: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Likes: 8.1K | Followers: 8.4K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Baddies News: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Likes: 28K | Followers: 91K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Baddies Caribbean Clips: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Likes: 3.6K | Followers: 14K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The Baddies Season Lovers: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Likes: 7.4K | Followers: 55K</a:t>
            </a: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en-US" sz="1000" b="1" dirty="0">
                <a:solidFill>
                  <a:schemeClr val="bg1"/>
                </a:solidFill>
              </a:rPr>
              <a:t>Baddies 4 Life:</a:t>
            </a:r>
          </a:p>
          <a:p>
            <a:r>
              <a:rPr lang="en-US" sz="1000" b="1" dirty="0">
                <a:solidFill>
                  <a:schemeClr val="bg1"/>
                </a:solidFill>
              </a:rPr>
              <a:t>Likes: 13K | Followers: 88K</a:t>
            </a:r>
          </a:p>
        </p:txBody>
      </p:sp>
      <p:pic>
        <p:nvPicPr>
          <p:cNvPr id="10" name="Picture 9" descr="A blue square with a white letter f&#10;&#10;Description automatically generated">
            <a:extLst>
              <a:ext uri="{FF2B5EF4-FFF2-40B4-BE49-F238E27FC236}">
                <a16:creationId xmlns:a16="http://schemas.microsoft.com/office/drawing/2014/main" id="{D5692874-573E-E97A-749D-D46C5E55B6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05" y="2672856"/>
            <a:ext cx="1512287" cy="151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799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B5E65-5903-5015-8706-7A532A219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D3021F-7824-4C32-9133-FC202B63E4B4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pic>
        <p:nvPicPr>
          <p:cNvPr id="6" name="Picture 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66EB3FAD-7174-1DF2-EB18-091FE50AB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0"/>
            <a:ext cx="2857500" cy="1600200"/>
          </a:xfrm>
          <a:prstGeom prst="rect">
            <a:avLst/>
          </a:prstGeom>
        </p:spPr>
      </p:pic>
      <p:pic>
        <p:nvPicPr>
          <p:cNvPr id="16" name="Picture 15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DEF0D06D-03FB-0AE2-F2CF-EB94EB701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7800"/>
            <a:ext cx="2857500" cy="1600200"/>
          </a:xfrm>
          <a:prstGeom prst="rect">
            <a:avLst/>
          </a:prstGeom>
        </p:spPr>
      </p:pic>
      <p:pic>
        <p:nvPicPr>
          <p:cNvPr id="18" name="Picture 17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353CEA3F-9E6C-6485-FC9D-2D166D6996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99" y="5257800"/>
            <a:ext cx="2857500" cy="1600200"/>
          </a:xfrm>
          <a:prstGeom prst="rect">
            <a:avLst/>
          </a:prstGeom>
        </p:spPr>
      </p:pic>
      <p:pic>
        <p:nvPicPr>
          <p:cNvPr id="20" name="Picture 19" descr="A group of women posing for a photo&#10;&#10;Description automatically generated">
            <a:extLst>
              <a:ext uri="{FF2B5EF4-FFF2-40B4-BE49-F238E27FC236}">
                <a16:creationId xmlns:a16="http://schemas.microsoft.com/office/drawing/2014/main" id="{BBB7252D-CB58-D0B4-DD8B-0712AF6029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500" cy="16002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A69AAA6-0CD1-4E8B-E92F-B82E1E74D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665" y="640540"/>
            <a:ext cx="5946668" cy="588793"/>
          </a:xfrm>
        </p:spPr>
        <p:txBody>
          <a:bodyPr>
            <a:noAutofit/>
          </a:bodyPr>
          <a:lstStyle/>
          <a:p>
            <a:r>
              <a:rPr lang="en-US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AUDIENCE SENTIMENT</a:t>
            </a:r>
            <a:endParaRPr lang="en-NG" sz="44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DED585-8D24-FD3A-721C-7A18C4189D48}"/>
              </a:ext>
            </a:extLst>
          </p:cNvPr>
          <p:cNvSpPr txBox="1"/>
          <p:nvPr/>
        </p:nvSpPr>
        <p:spPr>
          <a:xfrm>
            <a:off x="1313300" y="2240740"/>
            <a:ext cx="104879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Positive Sentiment:</a:t>
            </a:r>
          </a:p>
          <a:p>
            <a:r>
              <a:rPr lang="en-US" b="1" dirty="0">
                <a:solidFill>
                  <a:schemeClr val="bg1"/>
                </a:solidFill>
              </a:rPr>
              <a:t>Overwhelmingly most viral clips and discussion points are about the physical fights between the women on the show and online feuds between contestants. Fans love the drama and fights.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Negative Sentiment:</a:t>
            </a:r>
          </a:p>
          <a:p>
            <a:r>
              <a:rPr lang="en-US" b="1" dirty="0">
                <a:solidFill>
                  <a:schemeClr val="bg1"/>
                </a:solidFill>
              </a:rPr>
              <a:t>Some viewers feel the show is degrading and embarrassing for participants.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Platform Highlights:</a:t>
            </a:r>
          </a:p>
          <a:p>
            <a:r>
              <a:rPr lang="en-US" b="1" dirty="0">
                <a:solidFill>
                  <a:schemeClr val="bg1"/>
                </a:solidFill>
              </a:rPr>
              <a:t>Twitter and Instagram: Main hubs for cast discussions and fan commentary.</a:t>
            </a:r>
          </a:p>
          <a:p>
            <a:r>
              <a:rPr lang="en-US" b="1" dirty="0">
                <a:solidFill>
                  <a:schemeClr val="bg1"/>
                </a:solidFill>
              </a:rPr>
              <a:t>Facebook Groups: Enable deeper community discussions and speculation.</a:t>
            </a:r>
            <a:endParaRPr lang="en-NG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029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1305</Words>
  <Application>Microsoft Office PowerPoint</Application>
  <PresentationFormat>Widescreen</PresentationFormat>
  <Paragraphs>248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SOCIAL MEDIA &amp; CULTURAL IMPACT ANALYSIS FOR BADDIES FRANCHISE</vt:lpstr>
      <vt:lpstr>INTRODUCTION</vt:lpstr>
      <vt:lpstr>METHODOLOGY</vt:lpstr>
      <vt:lpstr>X (TWITTER) ANALYSIS</vt:lpstr>
      <vt:lpstr>INSTAGRAM ANALYSIS</vt:lpstr>
      <vt:lpstr>YOUTUBE ANALYSIS</vt:lpstr>
      <vt:lpstr>TIK TOK ANALYSIS</vt:lpstr>
      <vt:lpstr>FACEBOOK ANALYSIS</vt:lpstr>
      <vt:lpstr>AUDIENCE SENTIMENT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Oberabor</dc:creator>
  <cp:lastModifiedBy>Emmanuel Oberabor</cp:lastModifiedBy>
  <cp:revision>7</cp:revision>
  <dcterms:created xsi:type="dcterms:W3CDTF">2024-10-28T14:33:08Z</dcterms:created>
  <dcterms:modified xsi:type="dcterms:W3CDTF">2024-10-28T16:06:01Z</dcterms:modified>
</cp:coreProperties>
</file>